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366" r:id="rId3"/>
    <p:sldId id="376" r:id="rId4"/>
    <p:sldId id="378" r:id="rId5"/>
    <p:sldId id="374" r:id="rId6"/>
    <p:sldId id="360" r:id="rId7"/>
    <p:sldId id="379" r:id="rId8"/>
    <p:sldId id="354" r:id="rId9"/>
    <p:sldId id="37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>
      <p:cViewPr varScale="1">
        <p:scale>
          <a:sx n="113" d="100"/>
          <a:sy n="113" d="100"/>
        </p:scale>
        <p:origin x="-522" y="-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1B7145-0BB5-4A08-AD22-79BB91A54E76}" type="datetimeFigureOut">
              <a:rPr lang="ru-RU" smtClean="0"/>
              <a:pPr/>
              <a:t>27.10.2025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E3019F-E590-4F7B-9101-BEE87525CBC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92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3019F-E590-4F7B-9101-BEE87525CBC5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070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E3019F-E590-4F7B-9101-BEE87525CBC5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070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9705-955D-4B9A-8761-8EBFA039BE42}" type="datetimeFigureOut">
              <a:rPr lang="ru-RU" smtClean="0"/>
              <a:pPr/>
              <a:t>27.10.2025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DC5F6-FE85-487F-B9A7-83A87F346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9705-955D-4B9A-8761-8EBFA039BE42}" type="datetimeFigureOut">
              <a:rPr lang="ru-RU" smtClean="0"/>
              <a:pPr/>
              <a:t>27.10.2025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DC5F6-FE85-487F-B9A7-83A87F346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9705-955D-4B9A-8761-8EBFA039BE42}" type="datetimeFigureOut">
              <a:rPr lang="ru-RU" smtClean="0"/>
              <a:pPr/>
              <a:t>27.10.2025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DC5F6-FE85-487F-B9A7-83A87F346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9705-955D-4B9A-8761-8EBFA039BE42}" type="datetimeFigureOut">
              <a:rPr lang="ru-RU" smtClean="0"/>
              <a:pPr/>
              <a:t>27.10.2025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DC5F6-FE85-487F-B9A7-83A87F346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9705-955D-4B9A-8761-8EBFA039BE42}" type="datetimeFigureOut">
              <a:rPr lang="ru-RU" smtClean="0"/>
              <a:pPr/>
              <a:t>27.10.2025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DC5F6-FE85-487F-B9A7-83A87F346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9705-955D-4B9A-8761-8EBFA039BE42}" type="datetimeFigureOut">
              <a:rPr lang="ru-RU" smtClean="0"/>
              <a:pPr/>
              <a:t>27.10.2025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DC5F6-FE85-487F-B9A7-83A87F346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9705-955D-4B9A-8761-8EBFA039BE42}" type="datetimeFigureOut">
              <a:rPr lang="ru-RU" smtClean="0"/>
              <a:pPr/>
              <a:t>27.10.2025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DC5F6-FE85-487F-B9A7-83A87F346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9705-955D-4B9A-8761-8EBFA039BE42}" type="datetimeFigureOut">
              <a:rPr lang="ru-RU" smtClean="0"/>
              <a:pPr/>
              <a:t>27.10.2025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DC5F6-FE85-487F-B9A7-83A87F346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9705-955D-4B9A-8761-8EBFA039BE42}" type="datetimeFigureOut">
              <a:rPr lang="ru-RU" smtClean="0"/>
              <a:pPr/>
              <a:t>27.10.2025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DC5F6-FE85-487F-B9A7-83A87F346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9705-955D-4B9A-8761-8EBFA039BE42}" type="datetimeFigureOut">
              <a:rPr lang="ru-RU" smtClean="0"/>
              <a:pPr/>
              <a:t>27.10.2025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DC5F6-FE85-487F-B9A7-83A87F346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9705-955D-4B9A-8761-8EBFA039BE42}" type="datetimeFigureOut">
              <a:rPr lang="ru-RU" smtClean="0"/>
              <a:pPr/>
              <a:t>27.10.2025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DC5F6-FE85-487F-B9A7-83A87F346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19705-955D-4B9A-8761-8EBFA039BE42}" type="datetimeFigureOut">
              <a:rPr lang="ru-RU" smtClean="0"/>
              <a:pPr/>
              <a:t>27.10.2025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DC5F6-FE85-487F-B9A7-83A87F346D3D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47528" y="1484784"/>
            <a:ext cx="8640960" cy="2718064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accent2"/>
                </a:solidFill>
                <a:latin typeface="Arial Black" pitchFamily="34" charset="0"/>
              </a:rPr>
              <a:t>Рынок систем кондиционирования в РФ </a:t>
            </a:r>
            <a:r>
              <a:rPr lang="ru-RU" sz="6000" b="1" dirty="0">
                <a:solidFill>
                  <a:schemeClr val="accent2"/>
                </a:solidFill>
                <a:latin typeface="Arial Black" pitchFamily="34" charset="0"/>
              </a:rPr>
              <a:t/>
            </a:r>
            <a:br>
              <a:rPr lang="ru-RU" sz="6000" b="1" dirty="0">
                <a:solidFill>
                  <a:schemeClr val="accent2"/>
                </a:solidFill>
                <a:latin typeface="Arial Black" pitchFamily="34" charset="0"/>
              </a:rPr>
            </a:br>
            <a:r>
              <a:rPr lang="ru-RU" sz="2400" b="1" dirty="0">
                <a:solidFill>
                  <a:schemeClr val="accent2"/>
                </a:solidFill>
                <a:latin typeface="Arial Black" pitchFamily="34" charset="0"/>
              </a:rPr>
              <a:t>Предварительные итоги </a:t>
            </a:r>
            <a:r>
              <a:rPr lang="ru-RU" sz="2400" b="1" dirty="0" smtClean="0">
                <a:solidFill>
                  <a:schemeClr val="accent2"/>
                </a:solidFill>
                <a:latin typeface="Arial Black" pitchFamily="34" charset="0"/>
              </a:rPr>
              <a:t>2025 </a:t>
            </a:r>
            <a:r>
              <a:rPr lang="ru-RU" sz="2400" b="1" dirty="0">
                <a:solidFill>
                  <a:schemeClr val="accent2"/>
                </a:solidFill>
                <a:latin typeface="Arial Black" pitchFamily="34" charset="0"/>
              </a:rPr>
              <a:t>года и перспективы развития</a:t>
            </a:r>
            <a:endParaRPr lang="ru-RU" sz="2400" b="1" dirty="0">
              <a:solidFill>
                <a:schemeClr val="tx2"/>
              </a:solidFill>
              <a:latin typeface="Arial Black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999656" y="5373216"/>
            <a:ext cx="6400800" cy="536222"/>
          </a:xfrm>
        </p:spPr>
        <p:txBody>
          <a:bodyPr>
            <a:normAutofit lnSpcReduction="10000"/>
          </a:bodyPr>
          <a:lstStyle/>
          <a:p>
            <a:r>
              <a:rPr lang="ru-RU" b="1" dirty="0">
                <a:solidFill>
                  <a:schemeClr val="tx2"/>
                </a:solidFill>
                <a:latin typeface="Arial Black" pitchFamily="34" charset="0"/>
              </a:rPr>
              <a:t>Георгий Литвинчук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22837" cy="80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5418"/>
            <a:ext cx="12191999" cy="802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одзаголовок 2"/>
          <p:cNvSpPr txBox="1">
            <a:spLocks/>
          </p:cNvSpPr>
          <p:nvPr/>
        </p:nvSpPr>
        <p:spPr>
          <a:xfrm>
            <a:off x="-96688" y="6188598"/>
            <a:ext cx="4104456" cy="5362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WWW.LITVINCHUK.RU</a:t>
            </a:r>
            <a:endParaRPr lang="ru-RU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30"/>
            <a:ext cx="12192000" cy="402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3513" y="2030"/>
            <a:ext cx="8795662" cy="402634"/>
          </a:xfrm>
        </p:spPr>
        <p:txBody>
          <a:bodyPr>
            <a:normAutofit fontScale="90000"/>
          </a:bodyPr>
          <a:lstStyle/>
          <a:p>
            <a:pPr>
              <a:lnSpc>
                <a:spcPct val="80000"/>
              </a:lnSpc>
            </a:pPr>
            <a:r>
              <a:rPr lang="ru-RU" sz="3000" b="1" dirty="0">
                <a:solidFill>
                  <a:schemeClr val="bg1"/>
                </a:solidFill>
              </a:rPr>
              <a:t>Продажи сплит-систем в России в </a:t>
            </a:r>
            <a:r>
              <a:rPr lang="ru-RU" sz="3000" b="1" dirty="0" smtClean="0">
                <a:solidFill>
                  <a:schemeClr val="bg1"/>
                </a:solidFill>
              </a:rPr>
              <a:t>1995-2025 </a:t>
            </a:r>
            <a:endParaRPr lang="ru-RU" sz="3000" b="1" dirty="0">
              <a:solidFill>
                <a:schemeClr val="bg1"/>
              </a:solidFill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3742"/>
            <a:ext cx="12192000" cy="78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Подзаголовок 2"/>
          <p:cNvSpPr txBox="1">
            <a:spLocks/>
          </p:cNvSpPr>
          <p:nvPr/>
        </p:nvSpPr>
        <p:spPr>
          <a:xfrm>
            <a:off x="-96688" y="6233447"/>
            <a:ext cx="4104456" cy="5362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WWW.LITVINCHUK.RU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4592" y="6136657"/>
            <a:ext cx="658425" cy="658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7359" y="1258311"/>
            <a:ext cx="3970794" cy="466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smtClean="0"/>
              <a:t>В 2024 совпали и сыграли в плюс все 4 фактора, влияющих на объемы продаж: </a:t>
            </a:r>
            <a:endParaRPr lang="ru-RU" sz="2400" b="1" dirty="0"/>
          </a:p>
          <a:p>
            <a:pPr marL="342900" indent="-342900" algn="just">
              <a:spcBef>
                <a:spcPts val="800"/>
              </a:spcBef>
              <a:buAutoNum type="arabicPeriod"/>
            </a:pPr>
            <a:r>
              <a:rPr lang="ru-RU" sz="2800" b="1" dirty="0">
                <a:solidFill>
                  <a:srgbClr val="FF0000"/>
                </a:solidFill>
              </a:rPr>
              <a:t>Погода. </a:t>
            </a:r>
          </a:p>
          <a:p>
            <a:pPr marL="342900" indent="-342900" algn="just">
              <a:spcBef>
                <a:spcPts val="800"/>
              </a:spcBef>
              <a:buAutoNum type="arabicPeriod"/>
            </a:pPr>
            <a:r>
              <a:rPr lang="ru-RU" sz="2800" b="1" dirty="0">
                <a:solidFill>
                  <a:srgbClr val="FF0000"/>
                </a:solidFill>
              </a:rPr>
              <a:t>Благосостояние</a:t>
            </a:r>
          </a:p>
          <a:p>
            <a:pPr marL="342900" indent="-342900" algn="just">
              <a:spcBef>
                <a:spcPts val="800"/>
              </a:spcBef>
              <a:buAutoNum type="arabicPeriod"/>
            </a:pPr>
            <a:r>
              <a:rPr lang="ru-RU" sz="2800" b="1" dirty="0">
                <a:solidFill>
                  <a:srgbClr val="FF0000"/>
                </a:solidFill>
              </a:rPr>
              <a:t>Объем строительства</a:t>
            </a:r>
          </a:p>
          <a:p>
            <a:pPr marL="342900" indent="-342900" algn="just">
              <a:spcBef>
                <a:spcPts val="800"/>
              </a:spcBef>
              <a:buAutoNum type="arabicPeriod"/>
            </a:pPr>
            <a:r>
              <a:rPr lang="ru-RU" sz="2800" b="1" dirty="0">
                <a:solidFill>
                  <a:srgbClr val="FF0000"/>
                </a:solidFill>
              </a:rPr>
              <a:t>Объем </a:t>
            </a:r>
            <a:r>
              <a:rPr lang="ru-RU" sz="2800" b="1">
                <a:solidFill>
                  <a:srgbClr val="FF0000"/>
                </a:solidFill>
              </a:rPr>
              <a:t>замены</a:t>
            </a:r>
            <a:r>
              <a:rPr lang="ru-RU" sz="2800" b="1" smtClean="0">
                <a:solidFill>
                  <a:srgbClr val="FF0000"/>
                </a:solidFill>
              </a:rPr>
              <a:t>.</a:t>
            </a:r>
          </a:p>
          <a:p>
            <a:pPr algn="just">
              <a:spcBef>
                <a:spcPts val="800"/>
              </a:spcBef>
            </a:pPr>
            <a:r>
              <a:rPr lang="ru-RU" sz="2400" b="1" smtClean="0"/>
              <a:t>Было очевидно, что в 2025 такой лафы не будет.</a:t>
            </a:r>
            <a:endParaRPr lang="ru-RU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4D4362-58C7-90B5-42DA-FD031EA48928}"/>
              </a:ext>
            </a:extLst>
          </p:cNvPr>
          <p:cNvSpPr txBox="1"/>
          <p:nvPr/>
        </p:nvSpPr>
        <p:spPr>
          <a:xfrm>
            <a:off x="151211" y="427314"/>
            <a:ext cx="11819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/>
              <a:t>Как видно из графика рынок поступательно развивается, начиная с </a:t>
            </a:r>
            <a:r>
              <a:rPr lang="ru-RU" sz="2400" b="1" dirty="0" smtClean="0"/>
              <a:t>2016 г. </a:t>
            </a:r>
            <a:r>
              <a:rPr lang="ru-RU" sz="2400" b="1" smtClean="0"/>
              <a:t>В 202</a:t>
            </a:r>
            <a:r>
              <a:rPr lang="en-US" sz="2400" b="1" smtClean="0"/>
              <a:t>4 </a:t>
            </a:r>
            <a:r>
              <a:rPr lang="ru-RU" sz="2400" b="1" smtClean="0"/>
              <a:t>случились рекордные продажи в 4,3 млн. сплитов. </a:t>
            </a:r>
            <a:r>
              <a:rPr lang="ru-RU" sz="2400" b="1" smtClean="0">
                <a:solidFill>
                  <a:srgbClr val="FF0000"/>
                </a:solidFill>
              </a:rPr>
              <a:t>В чем </a:t>
            </a:r>
            <a:r>
              <a:rPr lang="ru-RU" sz="2400" b="1" dirty="0">
                <a:solidFill>
                  <a:srgbClr val="FF0000"/>
                </a:solidFill>
              </a:rPr>
              <a:t>причина такой динамики?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793" y="1359629"/>
            <a:ext cx="7395949" cy="471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5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30"/>
            <a:ext cx="12192000" cy="54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98169" y="74038"/>
            <a:ext cx="8795662" cy="402634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ru-RU" sz="3200" b="1" dirty="0" smtClean="0">
                <a:solidFill>
                  <a:schemeClr val="bg1"/>
                </a:solidFill>
              </a:rPr>
              <a:t>Реалии 2025 года. </a:t>
            </a:r>
            <a:endParaRPr lang="ru-RU" sz="3200" b="1" dirty="0">
              <a:solidFill>
                <a:schemeClr val="bg1"/>
              </a:solidFill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3742"/>
            <a:ext cx="12192000" cy="78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Подзаголовок 2"/>
          <p:cNvSpPr txBox="1">
            <a:spLocks/>
          </p:cNvSpPr>
          <p:nvPr/>
        </p:nvSpPr>
        <p:spPr>
          <a:xfrm>
            <a:off x="-96688" y="6233447"/>
            <a:ext cx="4104456" cy="5362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WWW.LITVINCHUK.RU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4592" y="6136657"/>
            <a:ext cx="658425" cy="658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4D4362-58C7-90B5-42DA-FD031EA48928}"/>
              </a:ext>
            </a:extLst>
          </p:cNvPr>
          <p:cNvSpPr txBox="1"/>
          <p:nvPr/>
        </p:nvSpPr>
        <p:spPr>
          <a:xfrm>
            <a:off x="142826" y="620688"/>
            <a:ext cx="118196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/>
              <a:t>После суперуспешного 2024 года, по итогам которого рынок вырос на 30%, многие ведущие компании поставили себе в планы такой же точно рост на 2025 год. Не принимая во внимание, что расти на стремительно взлетевшем рынке и на рынке, который вошел в период стабилизации это - разные вещи. </a:t>
            </a:r>
          </a:p>
          <a:p>
            <a:pPr algn="just"/>
            <a:r>
              <a:rPr lang="ru-RU" sz="2400" b="1" dirty="0" smtClean="0"/>
              <a:t>В итоге в 2025 году на Европейской части страны лето было в пределах климатической нормы (в 2024 – жаркое). </a:t>
            </a:r>
          </a:p>
          <a:p>
            <a:pPr algn="just"/>
            <a:r>
              <a:rPr lang="ru-RU" sz="2400" b="1" dirty="0" smtClean="0"/>
              <a:t>Уровень благосостояния остался плюс минус тот же, но… если в сезон 2024 люди были готовы тратить деньги на фоне высокой инфляции, то в 2025 – нет. Высокий процент по банковским депозитам оттянул все деньги в банки. Сегодня он по-прежнему превышает и уровень реальной инфляции и доход, который можно получить пустив деньги в дело. Поэтому тратит народ крайне неохотно.</a:t>
            </a:r>
          </a:p>
          <a:p>
            <a:pPr algn="just"/>
            <a:r>
              <a:rPr lang="ru-RU" sz="2400" b="1" dirty="0" smtClean="0"/>
              <a:t>А объемы замен техники и продажи кондиционеров в новое жилье остались плюс-минус на уровне 2024 года. Падение объемов строительства скажется на рынке в 2026-2027 годах. В итоге реальные продажи оказались на уровне чуть выше 2023 года.</a:t>
            </a:r>
            <a:endParaRPr lang="ru-R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2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53680B-3DF8-E9DD-946B-4325471D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>
            <a:extLst>
              <a:ext uri="{FF2B5EF4-FFF2-40B4-BE49-F238E27FC236}">
                <a16:creationId xmlns:a16="http://schemas.microsoft.com/office/drawing/2014/main" xmlns="" id="{7BAE7E96-32F4-A8CF-EF33-306300BF8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30"/>
            <a:ext cx="12192000" cy="402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B57F53F-14C8-8C78-31B0-B667BFDD1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53013"/>
            <a:ext cx="9865095" cy="402634"/>
          </a:xfrm>
        </p:spPr>
        <p:txBody>
          <a:bodyPr>
            <a:normAutofit fontScale="90000"/>
          </a:bodyPr>
          <a:lstStyle/>
          <a:p>
            <a:pPr>
              <a:lnSpc>
                <a:spcPct val="80000"/>
              </a:lnSpc>
            </a:pPr>
            <a:r>
              <a:rPr lang="ru-RU" sz="3000" b="1" dirty="0">
                <a:solidFill>
                  <a:schemeClr val="bg1"/>
                </a:solidFill>
              </a:rPr>
              <a:t>ПРОГНОЗ </a:t>
            </a:r>
            <a:r>
              <a:rPr lang="ru-RU" sz="3000" b="1" dirty="0" smtClean="0">
                <a:solidFill>
                  <a:schemeClr val="bg1"/>
                </a:solidFill>
              </a:rPr>
              <a:t>НА </a:t>
            </a:r>
            <a:r>
              <a:rPr lang="ru-RU" sz="3000" b="1" dirty="0" smtClean="0">
                <a:solidFill>
                  <a:schemeClr val="bg1"/>
                </a:solidFill>
              </a:rPr>
              <a:t>2025 СДЕЛАННЫЙ ГОД НАЗАД</a:t>
            </a:r>
            <a:endParaRPr lang="ru-RU" sz="3000" b="1" dirty="0">
              <a:solidFill>
                <a:schemeClr val="bg1"/>
              </a:solidFill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xmlns="" id="{D7B15E79-CC7B-F6E7-7A2B-4BA1BE8B0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3742"/>
            <a:ext cx="12192000" cy="78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xmlns="" id="{E1FCE7FE-D106-B5C1-F5C5-57AD91BF1684}"/>
              </a:ext>
            </a:extLst>
          </p:cNvPr>
          <p:cNvSpPr txBox="1">
            <a:spLocks/>
          </p:cNvSpPr>
          <p:nvPr/>
        </p:nvSpPr>
        <p:spPr>
          <a:xfrm>
            <a:off x="30539" y="6219812"/>
            <a:ext cx="4104456" cy="5362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WWW.LITVINCHUK.RU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90A9C3C1-4C20-1A0A-F32E-A22D40D15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592" y="6136657"/>
            <a:ext cx="658425" cy="658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A76DAEC-4843-0A26-0D2F-1E0B8584CE09}"/>
              </a:ext>
            </a:extLst>
          </p:cNvPr>
          <p:cNvSpPr txBox="1"/>
          <p:nvPr/>
        </p:nvSpPr>
        <p:spPr>
          <a:xfrm>
            <a:off x="6023992" y="503812"/>
            <a:ext cx="590789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/>
              <a:t>Судя по динамике завоза характерного для июля-декабря (с поправкой на проблемы с оплатой грузов летом), то с июля по декабрь 2024 должен въехать примерно 1 млн. сплит-систем. </a:t>
            </a:r>
            <a:r>
              <a:rPr lang="ru-RU" sz="2000" dirty="0" smtClean="0">
                <a:solidFill>
                  <a:srgbClr val="FF0000"/>
                </a:solidFill>
              </a:rPr>
              <a:t>(Въехало 1,3 млн.)</a:t>
            </a:r>
            <a:r>
              <a:rPr lang="ru-RU" sz="2000" dirty="0" smtClean="0"/>
              <a:t> </a:t>
            </a:r>
            <a:endParaRPr lang="ru-RU" sz="2000" dirty="0"/>
          </a:p>
          <a:p>
            <a:pPr algn="just"/>
            <a:r>
              <a:rPr lang="ru-RU" sz="2000" dirty="0"/>
              <a:t>На 1 июля наличие было в районе 3,6 млн.</a:t>
            </a:r>
          </a:p>
          <a:p>
            <a:pPr algn="just"/>
            <a:r>
              <a:rPr lang="ru-RU" sz="2000" dirty="0"/>
              <a:t>Судя по планам дистрибуторов в 2025 планируется завоз в районе +25% к 2024 году. То есть, 4,5 – 4,6 </a:t>
            </a:r>
            <a:r>
              <a:rPr lang="ru-RU" sz="2000" dirty="0" err="1"/>
              <a:t>млн.штук</a:t>
            </a:r>
            <a:r>
              <a:rPr lang="ru-RU" sz="2000" dirty="0"/>
              <a:t>. </a:t>
            </a:r>
            <a:r>
              <a:rPr lang="ru-RU" sz="2000" dirty="0">
                <a:solidFill>
                  <a:srgbClr val="FF0000"/>
                </a:solidFill>
              </a:rPr>
              <a:t>(Ввезли 4,9 </a:t>
            </a:r>
            <a:r>
              <a:rPr lang="ru-RU" sz="2000" dirty="0" err="1" smtClean="0">
                <a:solidFill>
                  <a:srgbClr val="FF0000"/>
                </a:solidFill>
              </a:rPr>
              <a:t>млн.штук</a:t>
            </a:r>
            <a:r>
              <a:rPr lang="ru-RU" sz="2000" dirty="0" smtClean="0">
                <a:solidFill>
                  <a:srgbClr val="FF0000"/>
                </a:solidFill>
              </a:rPr>
              <a:t> = 3,9 млн. +26%)</a:t>
            </a:r>
            <a:endParaRPr lang="ru-RU" sz="2000" dirty="0">
              <a:solidFill>
                <a:srgbClr val="FF0000"/>
              </a:solidFill>
            </a:endParaRPr>
          </a:p>
          <a:p>
            <a:pPr algn="just"/>
            <a:r>
              <a:rPr lang="ru-RU" sz="2000" dirty="0" smtClean="0"/>
              <a:t>С </a:t>
            </a:r>
            <a:r>
              <a:rPr lang="ru-RU" sz="2000" dirty="0"/>
              <a:t>учетом прогноза продаж на уровне не выше 3,9 млн., что грозит остатками не менее 1,3 млн. </a:t>
            </a:r>
            <a:r>
              <a:rPr lang="ru-RU" sz="2000" dirty="0" smtClean="0">
                <a:solidFill>
                  <a:srgbClr val="FF0000"/>
                </a:solidFill>
              </a:rPr>
              <a:t>(В реальности продажи порядка 3,5 млн, а остатки в районе 2,0 </a:t>
            </a:r>
            <a:r>
              <a:rPr lang="ru-RU" sz="2000" dirty="0" err="1" smtClean="0">
                <a:solidFill>
                  <a:srgbClr val="FF0000"/>
                </a:solidFill>
              </a:rPr>
              <a:t>млн.штук</a:t>
            </a:r>
            <a:r>
              <a:rPr lang="ru-RU" sz="2000" dirty="0" smtClean="0">
                <a:solidFill>
                  <a:srgbClr val="FF0000"/>
                </a:solidFill>
              </a:rPr>
              <a:t>.)</a:t>
            </a:r>
            <a:endParaRPr lang="ru-RU" sz="2000" dirty="0">
              <a:solidFill>
                <a:srgbClr val="FF0000"/>
              </a:solidFill>
            </a:endParaRPr>
          </a:p>
          <a:p>
            <a:pPr algn="just"/>
            <a:r>
              <a:rPr lang="ru-RU" sz="2000" dirty="0"/>
              <a:t>При этом прогноз продаж на ближайшие 5 лет очень консервативный. Если при стабильном рынке из-за больших остатков начнутся «сливы» и упадет маржинальность, плохо будет всем. </a:t>
            </a:r>
            <a:endParaRPr lang="ru-RU" sz="2000" dirty="0" smtClean="0"/>
          </a:p>
          <a:p>
            <a:pPr algn="just"/>
            <a:r>
              <a:rPr lang="ru-RU" sz="2000" b="1" dirty="0" smtClean="0">
                <a:solidFill>
                  <a:srgbClr val="FF0000"/>
                </a:solidFill>
              </a:rPr>
              <a:t>Что и произошло. </a:t>
            </a:r>
            <a:r>
              <a:rPr lang="ru-RU" sz="2000" b="1" dirty="0" smtClean="0">
                <a:solidFill>
                  <a:srgbClr val="FF0000"/>
                </a:solidFill>
              </a:rPr>
              <a:t> </a:t>
            </a:r>
            <a:endParaRPr lang="ru-RU" sz="2000" b="1" dirty="0">
              <a:solidFill>
                <a:srgbClr val="FF000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43E7F9B5-8E6B-DD51-FC47-59A6D5BE9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36" y="503811"/>
            <a:ext cx="5688632" cy="539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15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30"/>
            <a:ext cx="12192000" cy="402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3513" y="2030"/>
            <a:ext cx="8795662" cy="402634"/>
          </a:xfrm>
        </p:spPr>
        <p:txBody>
          <a:bodyPr>
            <a:normAutofit fontScale="90000"/>
          </a:bodyPr>
          <a:lstStyle/>
          <a:p>
            <a:pPr>
              <a:lnSpc>
                <a:spcPct val="80000"/>
              </a:lnSpc>
            </a:pPr>
            <a:r>
              <a:rPr lang="ru-RU" sz="3000" b="1" dirty="0" smtClean="0">
                <a:solidFill>
                  <a:schemeClr val="bg1"/>
                </a:solidFill>
              </a:rPr>
              <a:t>СКЛАДСКИЕ ОСТАТКИ ПО ИТОГАМ 2025</a:t>
            </a:r>
            <a:endParaRPr lang="ru-RU" sz="3000" b="1" dirty="0">
              <a:solidFill>
                <a:schemeClr val="bg1"/>
              </a:solidFill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3742"/>
            <a:ext cx="12192000" cy="78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Подзаголовок 2"/>
          <p:cNvSpPr txBox="1">
            <a:spLocks/>
          </p:cNvSpPr>
          <p:nvPr/>
        </p:nvSpPr>
        <p:spPr>
          <a:xfrm>
            <a:off x="30539" y="6219812"/>
            <a:ext cx="4104456" cy="5362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WWW.LITVINCHUK.RU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592" y="6136657"/>
            <a:ext cx="658425" cy="6584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27EEEAB-F474-70AB-B3D3-E83F1F0425E1}"/>
              </a:ext>
            </a:extLst>
          </p:cNvPr>
          <p:cNvSpPr txBox="1"/>
          <p:nvPr/>
        </p:nvSpPr>
        <p:spPr>
          <a:xfrm>
            <a:off x="6584198" y="579301"/>
            <a:ext cx="527244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000" dirty="0">
                <a:cs typeface="Calibri" panose="020F0502020204030204" pitchFamily="34" charset="0"/>
              </a:rPr>
              <a:t>В ноябре-декабре </a:t>
            </a:r>
            <a:r>
              <a:rPr lang="ru-RU" sz="2000" dirty="0"/>
              <a:t>2024 г. было ввезено 567.000 сплитов. Фактически это </a:t>
            </a:r>
            <a:r>
              <a:rPr lang="ru-RU" sz="2000" dirty="0" smtClean="0"/>
              <a:t>ненамного меньше, чем размер </a:t>
            </a:r>
            <a:r>
              <a:rPr lang="ru-RU" sz="2000" dirty="0"/>
              <a:t>остатка на начало 2025. </a:t>
            </a:r>
            <a:endParaRPr lang="ru-RU" sz="2000" dirty="0" smtClean="0"/>
          </a:p>
          <a:p>
            <a:pPr lvl="0"/>
            <a:r>
              <a:rPr lang="ru-RU" sz="2000" dirty="0" smtClean="0"/>
              <a:t>(</a:t>
            </a:r>
            <a:r>
              <a:rPr lang="en-US" sz="2000" dirty="0" smtClean="0"/>
              <a:t>60-7</a:t>
            </a:r>
            <a:r>
              <a:rPr lang="ru-RU" sz="2000" dirty="0" smtClean="0"/>
              <a:t>0</a:t>
            </a:r>
            <a:r>
              <a:rPr lang="ru-RU" sz="2000" dirty="0" smtClean="0"/>
              <a:t>% было </a:t>
            </a:r>
            <a:r>
              <a:rPr lang="ru-RU" sz="2000" dirty="0" smtClean="0"/>
              <a:t>быстро раскуплено </a:t>
            </a:r>
            <a:r>
              <a:rPr lang="ru-RU" sz="2000" dirty="0" smtClean="0"/>
              <a:t>дилерами)</a:t>
            </a:r>
            <a:endParaRPr lang="ru-RU" sz="2000" dirty="0"/>
          </a:p>
          <a:p>
            <a:pPr lvl="0"/>
            <a:r>
              <a:rPr lang="ru-RU" sz="2000" dirty="0" smtClean="0"/>
              <a:t>А в </a:t>
            </a:r>
            <a:r>
              <a:rPr lang="ru-RU" sz="2000" dirty="0"/>
              <a:t>2025 г. Только за первые 3 месяца было ввезено </a:t>
            </a:r>
            <a:r>
              <a:rPr lang="ru-RU" sz="2000" dirty="0" smtClean="0"/>
              <a:t>2,</a:t>
            </a:r>
            <a:r>
              <a:rPr lang="en-US" sz="2000" dirty="0" smtClean="0"/>
              <a:t>23</a:t>
            </a:r>
            <a:r>
              <a:rPr lang="ru-RU" sz="2000" dirty="0" smtClean="0"/>
              <a:t> </a:t>
            </a:r>
            <a:r>
              <a:rPr lang="ru-RU" sz="2000" dirty="0"/>
              <a:t>млн. сплитов. До конца года будет ввезено еще минимум </a:t>
            </a:r>
            <a:r>
              <a:rPr lang="ru-RU" sz="2000" dirty="0" smtClean="0"/>
              <a:t>2,</a:t>
            </a:r>
            <a:r>
              <a:rPr lang="en-US" sz="2000" dirty="0" smtClean="0"/>
              <a:t>7</a:t>
            </a:r>
            <a:r>
              <a:rPr lang="ru-RU" sz="2000" dirty="0" smtClean="0"/>
              <a:t> </a:t>
            </a:r>
            <a:r>
              <a:rPr lang="ru-RU" sz="2000" dirty="0" err="1"/>
              <a:t>млн.сплитов</a:t>
            </a:r>
            <a:r>
              <a:rPr lang="ru-RU" sz="2000" dirty="0"/>
              <a:t>. </a:t>
            </a:r>
            <a:endParaRPr lang="ru-RU" sz="2000" dirty="0" smtClean="0"/>
          </a:p>
          <a:p>
            <a:pPr lvl="0"/>
            <a:r>
              <a:rPr lang="ru-RU" sz="2000" dirty="0" smtClean="0"/>
              <a:t>Наличие </a:t>
            </a:r>
            <a:r>
              <a:rPr lang="ru-RU" sz="2000" dirty="0"/>
              <a:t>(остаток + завоз) более </a:t>
            </a:r>
            <a:r>
              <a:rPr lang="ru-RU" sz="2000" dirty="0" smtClean="0"/>
              <a:t>5</a:t>
            </a:r>
            <a:r>
              <a:rPr lang="en-US" sz="2000" dirty="0" smtClean="0"/>
              <a:t>,5</a:t>
            </a:r>
            <a:r>
              <a:rPr lang="ru-RU" sz="2000" dirty="0" smtClean="0"/>
              <a:t> </a:t>
            </a:r>
            <a:r>
              <a:rPr lang="ru-RU" sz="2000" dirty="0"/>
              <a:t>млн. штук.</a:t>
            </a:r>
          </a:p>
          <a:p>
            <a:pPr lvl="0"/>
            <a:r>
              <a:rPr lang="ru-RU" sz="2000" dirty="0" smtClean="0"/>
              <a:t>И это при </a:t>
            </a:r>
            <a:r>
              <a:rPr lang="ru-RU" sz="2000" dirty="0"/>
              <a:t>продажах по итогам </a:t>
            </a:r>
            <a:r>
              <a:rPr lang="ru-RU" sz="2000" dirty="0" smtClean="0"/>
              <a:t>года в </a:t>
            </a:r>
            <a:r>
              <a:rPr lang="ru-RU" sz="2000" dirty="0" smtClean="0"/>
              <a:t>3,5-3,6 </a:t>
            </a:r>
            <a:r>
              <a:rPr lang="ru-RU" sz="2000" dirty="0"/>
              <a:t>млн. </a:t>
            </a:r>
            <a:r>
              <a:rPr lang="ru-RU" sz="2000" dirty="0" smtClean="0"/>
              <a:t>штук. В </a:t>
            </a:r>
            <a:r>
              <a:rPr lang="ru-RU" sz="2000" dirty="0"/>
              <a:t>2026 </a:t>
            </a:r>
            <a:r>
              <a:rPr lang="ru-RU" sz="2000" dirty="0" smtClean="0"/>
              <a:t>мы </a:t>
            </a:r>
            <a:r>
              <a:rPr lang="ru-RU" sz="2000" dirty="0"/>
              <a:t>получим остаток на начало </a:t>
            </a:r>
            <a:r>
              <a:rPr lang="ru-RU" sz="2000" dirty="0" smtClean="0"/>
              <a:t>конец года от </a:t>
            </a:r>
            <a:r>
              <a:rPr lang="ru-RU" sz="2000" dirty="0" smtClean="0"/>
              <a:t>1,9</a:t>
            </a:r>
            <a:r>
              <a:rPr lang="ru-RU" sz="2000" dirty="0" smtClean="0"/>
              <a:t>-2,1</a:t>
            </a:r>
            <a:r>
              <a:rPr lang="ru-RU" sz="2000" dirty="0" smtClean="0"/>
              <a:t>млн</a:t>
            </a:r>
            <a:r>
              <a:rPr lang="ru-RU" sz="2000" dirty="0"/>
              <a:t>. </a:t>
            </a:r>
            <a:r>
              <a:rPr lang="ru-RU" sz="2000" dirty="0" smtClean="0"/>
              <a:t>Если </a:t>
            </a:r>
            <a:r>
              <a:rPr lang="ru-RU" sz="2000" dirty="0"/>
              <a:t>завоз </a:t>
            </a:r>
            <a:r>
              <a:rPr lang="ru-RU" sz="2000" dirty="0" smtClean="0"/>
              <a:t>будет </a:t>
            </a:r>
            <a:r>
              <a:rPr lang="ru-RU" sz="2000" dirty="0"/>
              <a:t>больше, </a:t>
            </a:r>
            <a:r>
              <a:rPr lang="ru-RU" sz="2000" dirty="0" smtClean="0"/>
              <a:t>или продажи меньше, то остаток </a:t>
            </a:r>
            <a:r>
              <a:rPr lang="ru-RU" sz="2000" dirty="0"/>
              <a:t>может дойти до </a:t>
            </a:r>
            <a:r>
              <a:rPr lang="en-US" sz="2000" dirty="0" smtClean="0"/>
              <a:t>2</a:t>
            </a:r>
            <a:r>
              <a:rPr lang="ru-RU" sz="2000" dirty="0" smtClean="0"/>
              <a:t>,</a:t>
            </a:r>
            <a:r>
              <a:rPr lang="en-US" sz="2000" dirty="0" smtClean="0"/>
              <a:t>2</a:t>
            </a:r>
            <a:r>
              <a:rPr lang="ru-RU" sz="2000" dirty="0" smtClean="0"/>
              <a:t>-2,3 </a:t>
            </a:r>
            <a:r>
              <a:rPr lang="ru-RU" sz="2000" dirty="0" smtClean="0"/>
              <a:t>млн</a:t>
            </a:r>
            <a:r>
              <a:rPr lang="ru-RU" sz="2000" dirty="0" smtClean="0"/>
              <a:t>. сплитов.</a:t>
            </a:r>
          </a:p>
          <a:p>
            <a:pPr lvl="0"/>
            <a:r>
              <a:rPr lang="ru-RU" sz="2000" dirty="0" smtClean="0"/>
              <a:t>Увы, техники на рынке столько, что заполнены как склады дистрибуторов, так и склады региональных оптовиков и просто крупных </a:t>
            </a:r>
            <a:r>
              <a:rPr lang="ru-RU" sz="2000" dirty="0" err="1" smtClean="0"/>
              <a:t>розничников</a:t>
            </a:r>
            <a:r>
              <a:rPr lang="ru-RU" sz="2000" dirty="0" smtClean="0"/>
              <a:t>. </a:t>
            </a:r>
            <a:r>
              <a:rPr lang="en-US" sz="2000" dirty="0" smtClean="0"/>
              <a:t> </a:t>
            </a:r>
            <a:endParaRPr lang="ru-RU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576935"/>
            <a:ext cx="6192688" cy="5326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3833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9" y="22849"/>
            <a:ext cx="12192000" cy="508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40301" y="65895"/>
            <a:ext cx="9612559" cy="474638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100" b="1" dirty="0" smtClean="0">
                <a:solidFill>
                  <a:schemeClr val="bg1"/>
                </a:solidFill>
              </a:rPr>
              <a:t>ПРОГНОЗ </a:t>
            </a:r>
            <a:r>
              <a:rPr lang="ru-RU" sz="2100" b="1" dirty="0" smtClean="0">
                <a:solidFill>
                  <a:schemeClr val="bg1"/>
                </a:solidFill>
              </a:rPr>
              <a:t>ПРОДАЖ НА 2026 ГОД. </a:t>
            </a:r>
            <a:endParaRPr lang="ru-RU" sz="2100" b="1" dirty="0">
              <a:solidFill>
                <a:schemeClr val="bg1"/>
              </a:solidFill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79943"/>
            <a:ext cx="12192000" cy="57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3815" y="6324533"/>
            <a:ext cx="514797" cy="514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071664" y="614817"/>
            <a:ext cx="8856984" cy="564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900" dirty="0" smtClean="0"/>
              <a:t>Итак, </a:t>
            </a:r>
            <a:r>
              <a:rPr lang="ru-RU" sz="1900" dirty="0" err="1" smtClean="0"/>
              <a:t>прорйдемся</a:t>
            </a:r>
            <a:r>
              <a:rPr lang="ru-RU" sz="1900" dirty="0" smtClean="0"/>
              <a:t> по исходным факторам. </a:t>
            </a:r>
          </a:p>
          <a:p>
            <a:pPr marL="457200" indent="-457200">
              <a:buAutoNum type="arabicPeriod"/>
            </a:pPr>
            <a:r>
              <a:rPr lang="ru-RU" sz="1900" dirty="0" smtClean="0"/>
              <a:t>Остаток на конец 2025 года - порядка 2,0 </a:t>
            </a:r>
            <a:r>
              <a:rPr lang="ru-RU" sz="1900" dirty="0" err="1" smtClean="0"/>
              <a:t>млн.сплитов</a:t>
            </a:r>
            <a:r>
              <a:rPr lang="ru-RU" sz="1900" dirty="0" smtClean="0"/>
              <a:t>. </a:t>
            </a:r>
          </a:p>
          <a:p>
            <a:pPr marL="457200" indent="-457200">
              <a:buAutoNum type="arabicPeriod"/>
            </a:pPr>
            <a:r>
              <a:rPr lang="ru-RU" sz="1900" dirty="0" err="1" smtClean="0"/>
              <a:t>Маржинальность</a:t>
            </a:r>
            <a:r>
              <a:rPr lang="ru-RU" sz="1900" dirty="0" smtClean="0"/>
              <a:t> убита.</a:t>
            </a:r>
          </a:p>
          <a:p>
            <a:pPr marL="457200" indent="-457200">
              <a:buAutoNum type="arabicPeriod"/>
            </a:pPr>
            <a:r>
              <a:rPr lang="ru-RU" sz="1900" dirty="0" err="1" smtClean="0"/>
              <a:t>Предзаказ</a:t>
            </a:r>
            <a:r>
              <a:rPr lang="ru-RU" sz="1900" dirty="0" smtClean="0"/>
              <a:t> сорван.</a:t>
            </a:r>
          </a:p>
          <a:p>
            <a:endParaRPr lang="ru-RU" sz="1900" dirty="0" smtClean="0"/>
          </a:p>
          <a:p>
            <a:r>
              <a:rPr lang="ru-RU" sz="1900" dirty="0" smtClean="0">
                <a:latin typeface="Calibri"/>
                <a:cs typeface="Calibri"/>
              </a:rPr>
              <a:t>● </a:t>
            </a:r>
            <a:r>
              <a:rPr lang="ru-RU" sz="1900" dirty="0" smtClean="0"/>
              <a:t>Далее попробуем определить, насколько теплым будет год. В начавшемся четырехлетии был один жаркий -2024 и один средний - 2025. Таким образом, впереди холодный и теплый. Но. Теплые любят идти парами. Такое может случиться, если 2026 – холодный, а 2027 и 2028 – жаркие. Итого, 60% на холодный год, 40% на теплый. </a:t>
            </a:r>
          </a:p>
          <a:p>
            <a:r>
              <a:rPr lang="ru-RU" sz="1900" dirty="0">
                <a:cs typeface="Calibri"/>
              </a:rPr>
              <a:t>● </a:t>
            </a:r>
            <a:r>
              <a:rPr lang="ru-RU" sz="1900" dirty="0" smtClean="0"/>
              <a:t>Ставка по депозитам понизится, но потребительская активность по-прежнему низкая. </a:t>
            </a:r>
          </a:p>
          <a:p>
            <a:r>
              <a:rPr lang="ru-RU" sz="1900" dirty="0">
                <a:cs typeface="Calibri"/>
              </a:rPr>
              <a:t>● </a:t>
            </a:r>
            <a:r>
              <a:rPr lang="ru-RU" sz="1900" dirty="0" smtClean="0">
                <a:cs typeface="Calibri"/>
              </a:rPr>
              <a:t>П</a:t>
            </a:r>
            <a:r>
              <a:rPr lang="ru-RU" sz="1900" dirty="0" smtClean="0"/>
              <a:t>родажа кондиционеров в новостройки упадет. </a:t>
            </a:r>
          </a:p>
          <a:p>
            <a:r>
              <a:rPr lang="ru-RU" sz="1900" dirty="0" smtClean="0">
                <a:cs typeface="Calibri"/>
              </a:rPr>
              <a:t>● </a:t>
            </a:r>
            <a:r>
              <a:rPr lang="ru-RU" sz="1900" dirty="0"/>
              <a:t>Объем </a:t>
            </a:r>
            <a:r>
              <a:rPr lang="ru-RU" sz="1900" dirty="0" smtClean="0"/>
              <a:t>замены не вырастет. </a:t>
            </a:r>
          </a:p>
          <a:p>
            <a:endParaRPr lang="ru-RU" sz="1900" dirty="0" smtClean="0"/>
          </a:p>
          <a:p>
            <a:r>
              <a:rPr lang="ru-RU" sz="1900" dirty="0" smtClean="0"/>
              <a:t>При таких вводных прогноз </a:t>
            </a:r>
            <a:r>
              <a:rPr lang="ru-RU" sz="1900" dirty="0"/>
              <a:t>продаж </a:t>
            </a:r>
            <a:r>
              <a:rPr lang="ru-RU" sz="1900" dirty="0" smtClean="0"/>
              <a:t>на уровне в 3,1-3,2 </a:t>
            </a:r>
            <a:r>
              <a:rPr lang="ru-RU" sz="1900" dirty="0"/>
              <a:t>млн. штук. Таким </a:t>
            </a:r>
            <a:r>
              <a:rPr lang="ru-RU" sz="1900" dirty="0" smtClean="0"/>
              <a:t>образом,. При остатке в 2,1 млн. сплитов </a:t>
            </a:r>
            <a:r>
              <a:rPr lang="ru-RU" sz="1900" dirty="0"/>
              <a:t>достаточно завезти 1,6-1,8 млн. сплитов, а ввезут минимум </a:t>
            </a:r>
            <a:r>
              <a:rPr lang="ru-RU" sz="1900" dirty="0" smtClean="0"/>
              <a:t>3,0 млн., благодаря чему остаток по итогам 2026 останется очень большим, в районе 1,9 </a:t>
            </a:r>
            <a:r>
              <a:rPr lang="ru-RU" sz="1900" dirty="0" err="1" smtClean="0"/>
              <a:t>млн.штук</a:t>
            </a:r>
            <a:r>
              <a:rPr lang="ru-RU" sz="1900" dirty="0" smtClean="0"/>
              <a:t>. То есть, повторится ситуация 2011-2012 годов. </a:t>
            </a:r>
            <a:endParaRPr lang="ru-RU" sz="1900" dirty="0"/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xmlns="" id="{E57D540A-A9B4-4AFC-97C1-9FEDFA17D8CF}"/>
              </a:ext>
            </a:extLst>
          </p:cNvPr>
          <p:cNvSpPr txBox="1">
            <a:spLocks/>
          </p:cNvSpPr>
          <p:nvPr/>
        </p:nvSpPr>
        <p:spPr>
          <a:xfrm>
            <a:off x="-96688" y="6333913"/>
            <a:ext cx="4104456" cy="5362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WWW.LITVINCHUK.RU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595275"/>
            <a:ext cx="2720847" cy="5611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074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9" y="22849"/>
            <a:ext cx="12192000" cy="508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40301" y="65895"/>
            <a:ext cx="9612559" cy="474638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100" b="1" dirty="0" smtClean="0">
                <a:solidFill>
                  <a:schemeClr val="bg1"/>
                </a:solidFill>
              </a:rPr>
              <a:t>Стройка и продажи </a:t>
            </a:r>
            <a:r>
              <a:rPr lang="ru-RU" sz="2100" b="1" dirty="0">
                <a:solidFill>
                  <a:schemeClr val="bg1"/>
                </a:solidFill>
              </a:rPr>
              <a:t>промышленной климатики (</a:t>
            </a:r>
            <a:r>
              <a:rPr lang="en-US" sz="2100" b="1" dirty="0">
                <a:solidFill>
                  <a:schemeClr val="bg1"/>
                </a:solidFill>
              </a:rPr>
              <a:t>VRF + </a:t>
            </a:r>
            <a:r>
              <a:rPr lang="ru-RU" sz="2100" b="1" dirty="0" err="1" smtClean="0">
                <a:solidFill>
                  <a:schemeClr val="bg1"/>
                </a:solidFill>
              </a:rPr>
              <a:t>чиллера</a:t>
            </a:r>
            <a:r>
              <a:rPr lang="ru-RU" sz="2100" b="1" dirty="0" smtClean="0">
                <a:solidFill>
                  <a:schemeClr val="bg1"/>
                </a:solidFill>
              </a:rPr>
              <a:t>) </a:t>
            </a:r>
            <a:r>
              <a:rPr lang="ru-RU" sz="2100" b="1" dirty="0">
                <a:solidFill>
                  <a:schemeClr val="bg1"/>
                </a:solidFill>
              </a:rPr>
              <a:t>в РФ в МВт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79943"/>
            <a:ext cx="12192000" cy="57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3815" y="6324533"/>
            <a:ext cx="514797" cy="514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8544271" y="595275"/>
            <a:ext cx="355954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900" dirty="0"/>
              <a:t>До 2021 года объемы потребления промышленной </a:t>
            </a:r>
            <a:r>
              <a:rPr lang="ru-RU" sz="1900" dirty="0" err="1"/>
              <a:t>климатики</a:t>
            </a:r>
            <a:r>
              <a:rPr lang="ru-RU" sz="1900" dirty="0"/>
              <a:t> идеально коррелировали с объемами потребления цемента в </a:t>
            </a:r>
            <a:r>
              <a:rPr lang="ru-RU" sz="1900" dirty="0" err="1"/>
              <a:t>млн.тонн</a:t>
            </a:r>
            <a:r>
              <a:rPr lang="ru-RU" sz="1900" dirty="0"/>
              <a:t> (правая шкала).</a:t>
            </a:r>
          </a:p>
          <a:p>
            <a:r>
              <a:rPr lang="ru-RU" sz="1900" dirty="0" smtClean="0"/>
              <a:t>В </a:t>
            </a:r>
            <a:r>
              <a:rPr lang="ru-RU" sz="1900" dirty="0"/>
              <a:t>2023 графики разошлись. Причина в появлении мощных ЦОД (много МВт и мало цемента) и появлении большого объема замен. </a:t>
            </a:r>
          </a:p>
          <a:p>
            <a:r>
              <a:rPr lang="ru-RU" sz="1900" dirty="0" smtClean="0"/>
              <a:t>Потребление </a:t>
            </a:r>
            <a:r>
              <a:rPr lang="ru-RU" sz="1900" dirty="0"/>
              <a:t>цемента коррелирует с  поставкой промышленной </a:t>
            </a:r>
            <a:r>
              <a:rPr lang="ru-RU" sz="1900" dirty="0" err="1"/>
              <a:t>климатики</a:t>
            </a:r>
            <a:r>
              <a:rPr lang="ru-RU" sz="1900" dirty="0"/>
              <a:t> на новые объекты: 1 </a:t>
            </a:r>
            <a:r>
              <a:rPr lang="ru-RU" sz="1900" dirty="0" err="1"/>
              <a:t>млн.тонн</a:t>
            </a:r>
            <a:r>
              <a:rPr lang="ru-RU" sz="1900" dirty="0"/>
              <a:t> = 20 МВт холода</a:t>
            </a:r>
            <a:r>
              <a:rPr lang="ru-RU" sz="1900" dirty="0" smtClean="0"/>
              <a:t>.</a:t>
            </a:r>
          </a:p>
          <a:p>
            <a:r>
              <a:rPr lang="ru-RU" sz="1900" dirty="0" smtClean="0"/>
              <a:t>По отдельным регионам плюс минус около этой цифры.</a:t>
            </a:r>
            <a:endParaRPr lang="ru-RU" sz="1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522BA38-EE89-44E5-8DD0-6FE8F3C4EA6E}"/>
              </a:ext>
            </a:extLst>
          </p:cNvPr>
          <p:cNvSpPr txBox="1"/>
          <p:nvPr/>
        </p:nvSpPr>
        <p:spPr>
          <a:xfrm>
            <a:off x="4612709" y="5845116"/>
            <a:ext cx="306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/>
              <a:t>Источник: «Литвинчук Маркетинг»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xmlns="" id="{E57D540A-A9B4-4AFC-97C1-9FEDFA17D8CF}"/>
              </a:ext>
            </a:extLst>
          </p:cNvPr>
          <p:cNvSpPr txBox="1">
            <a:spLocks/>
          </p:cNvSpPr>
          <p:nvPr/>
        </p:nvSpPr>
        <p:spPr>
          <a:xfrm>
            <a:off x="-96688" y="6333913"/>
            <a:ext cx="4104456" cy="5362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WWW.LITVINCHUK.RU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36" y="641234"/>
            <a:ext cx="8208911" cy="507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30"/>
            <a:ext cx="12192000" cy="474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1" y="2031"/>
            <a:ext cx="9121404" cy="474638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sz="2400" b="1" dirty="0" err="1" smtClean="0">
                <a:solidFill>
                  <a:schemeClr val="bg1"/>
                </a:solidFill>
              </a:rPr>
              <a:t>Чиллера</a:t>
            </a:r>
            <a:r>
              <a:rPr lang="ru-RU" sz="2400" b="1" dirty="0" smtClean="0">
                <a:solidFill>
                  <a:schemeClr val="bg1"/>
                </a:solidFill>
              </a:rPr>
              <a:t> – импорт за последние 12 месяцев (</a:t>
            </a:r>
            <a:r>
              <a:rPr lang="ru-RU" sz="2400" b="1" dirty="0">
                <a:solidFill>
                  <a:schemeClr val="bg1"/>
                </a:solidFill>
              </a:rPr>
              <a:t>в МВт)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89269"/>
            <a:ext cx="12192000" cy="660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608" y="6261990"/>
            <a:ext cx="514797" cy="514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8108420" y="611496"/>
            <a:ext cx="371378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Для оценки динамики рынка </a:t>
            </a:r>
            <a:r>
              <a:rPr lang="ru-RU" sz="2000" dirty="0" err="1"/>
              <a:t>чиллеров</a:t>
            </a:r>
            <a:r>
              <a:rPr lang="ru-RU" sz="2000" dirty="0"/>
              <a:t> важно понимать годовую динамику и текущую ситуацию</a:t>
            </a:r>
          </a:p>
          <a:p>
            <a:r>
              <a:rPr lang="ru-RU" sz="2000" dirty="0" smtClean="0"/>
              <a:t> </a:t>
            </a:r>
            <a:r>
              <a:rPr lang="ru-RU" sz="2000" dirty="0"/>
              <a:t>Хороший результат дает скользящий годовой итог – сумма импорта за последние 12 месяцев. Нижняя точка пройдена в октябре-ноябре 2024, а сейчас началось медленное движение вверх. </a:t>
            </a:r>
          </a:p>
          <a:p>
            <a:r>
              <a:rPr lang="ru-RU" sz="2000" dirty="0" smtClean="0"/>
              <a:t>По </a:t>
            </a:r>
            <a:r>
              <a:rPr lang="ru-RU" sz="2000" dirty="0"/>
              <a:t>новым объектам – незначительный спад, но замена тянет рынок вверх. В  2026-2027 замена вернет рынок к объемам рекордного 2023 </a:t>
            </a:r>
            <a:r>
              <a:rPr lang="ru-RU" sz="2000" dirty="0" smtClean="0"/>
              <a:t>года.</a:t>
            </a:r>
            <a:endParaRPr lang="ru-RU" dirty="0"/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xmlns="" id="{ECE39D2C-6C80-43A1-91C3-5A4D25194B51}"/>
              </a:ext>
            </a:extLst>
          </p:cNvPr>
          <p:cNvSpPr txBox="1">
            <a:spLocks/>
          </p:cNvSpPr>
          <p:nvPr/>
        </p:nvSpPr>
        <p:spPr>
          <a:xfrm>
            <a:off x="88830" y="6268035"/>
            <a:ext cx="4104456" cy="5362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WWW.LITVINCHUK.RU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534E418-2DE6-4D47-31EB-ED6043720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365" y="5551632"/>
            <a:ext cx="3084843" cy="37798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211" y="695341"/>
            <a:ext cx="7755997" cy="460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5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30"/>
            <a:ext cx="12192000" cy="474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1" y="2031"/>
            <a:ext cx="9121404" cy="474638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b="1" dirty="0" smtClean="0">
                <a:solidFill>
                  <a:schemeClr val="bg1"/>
                </a:solidFill>
              </a:rPr>
              <a:t>VRF</a:t>
            </a:r>
            <a:r>
              <a:rPr lang="ru-RU" sz="2400" b="1" dirty="0" smtClean="0">
                <a:solidFill>
                  <a:schemeClr val="bg1"/>
                </a:solidFill>
              </a:rPr>
              <a:t> – импорт за последние 12 месяцев (</a:t>
            </a:r>
            <a:r>
              <a:rPr lang="ru-RU" sz="2400" b="1" dirty="0">
                <a:solidFill>
                  <a:schemeClr val="bg1"/>
                </a:solidFill>
              </a:rPr>
              <a:t>в МВт)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89269"/>
            <a:ext cx="12192000" cy="660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608" y="6261990"/>
            <a:ext cx="514797" cy="514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8108420" y="611496"/>
            <a:ext cx="371378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Для оценки динамики рынка VRF важно понимать не только годовую динамику, но и текущую ситуацию. </a:t>
            </a:r>
          </a:p>
          <a:p>
            <a:r>
              <a:rPr lang="ru-RU" sz="2000" dirty="0" smtClean="0"/>
              <a:t>Хороший </a:t>
            </a:r>
            <a:r>
              <a:rPr lang="ru-RU" sz="2000" dirty="0"/>
              <a:t>результат дает скользящий годовой итог – сумма импорта за последние 12 месяцев. Хорошо видно, что c середины 2023 года импорт VRF стабилен и колеблется вокруг отметки в 700 мВт. </a:t>
            </a:r>
            <a:endParaRPr lang="en-US" sz="2000" dirty="0" smtClean="0"/>
          </a:p>
          <a:p>
            <a:r>
              <a:rPr lang="ru-RU" sz="2000" dirty="0" smtClean="0"/>
              <a:t>Доля </a:t>
            </a:r>
            <a:r>
              <a:rPr lang="ru-RU" sz="2000" dirty="0"/>
              <a:t>систем, идущих на замену, на этом рынке существенно меньше, чем по </a:t>
            </a:r>
            <a:r>
              <a:rPr lang="ru-RU" sz="2000" dirty="0" err="1"/>
              <a:t>чиллерам</a:t>
            </a:r>
            <a:r>
              <a:rPr lang="ru-RU" sz="2000" dirty="0"/>
              <a:t>, поэтому для роста необходима хотя бы стабилизация объемов, идущих на новые объекты.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xmlns="" id="{ECE39D2C-6C80-43A1-91C3-5A4D25194B51}"/>
              </a:ext>
            </a:extLst>
          </p:cNvPr>
          <p:cNvSpPr txBox="1">
            <a:spLocks/>
          </p:cNvSpPr>
          <p:nvPr/>
        </p:nvSpPr>
        <p:spPr>
          <a:xfrm>
            <a:off x="88830" y="6268035"/>
            <a:ext cx="4104456" cy="5362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WWW.LITVINCHUK.RU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534E418-2DE6-4D47-31EB-ED6043720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365" y="5551632"/>
            <a:ext cx="3084843" cy="37798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71" y="619310"/>
            <a:ext cx="7714430" cy="467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8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131645</TotalTime>
  <Words>1015</Words>
  <Application>Microsoft Office PowerPoint</Application>
  <PresentationFormat>Произвольный</PresentationFormat>
  <Paragraphs>66</Paragraphs>
  <Slides>9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Рынок систем кондиционирования в РФ  Предварительные итоги 2025 года и перспективы развития</vt:lpstr>
      <vt:lpstr>Продажи сплит-систем в России в 1995-2025 </vt:lpstr>
      <vt:lpstr>Реалии 2025 года. </vt:lpstr>
      <vt:lpstr>ПРОГНОЗ НА 2025 СДЕЛАННЫЙ ГОД НАЗАД</vt:lpstr>
      <vt:lpstr>СКЛАДСКИЕ ОСТАТКИ ПО ИТОГАМ 2025</vt:lpstr>
      <vt:lpstr>ПРОГНОЗ ПРОДАЖ НА 2026 ГОД. </vt:lpstr>
      <vt:lpstr>Стройка и продажи промышленной климатики (VRF + чиллера) в РФ в МВт</vt:lpstr>
      <vt:lpstr>Чиллера – импорт за последние 12 месяцев (в МВт)</vt:lpstr>
      <vt:lpstr>VRF – импорт за последние 12 месяцев (в МВт)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РОССИЯ 2009 Каких продаж нам ждать от наступающего сезона? Какова стратегия выживания?</dc:title>
  <dc:creator>Литвинчук</dc:creator>
  <cp:lastModifiedBy>User</cp:lastModifiedBy>
  <cp:revision>419</cp:revision>
  <dcterms:created xsi:type="dcterms:W3CDTF">2009-03-23T05:43:59Z</dcterms:created>
  <dcterms:modified xsi:type="dcterms:W3CDTF">2025-10-27T19:14:51Z</dcterms:modified>
</cp:coreProperties>
</file>